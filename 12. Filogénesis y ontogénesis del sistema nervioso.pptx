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3C7B28-C001-48DC-8CA9-09E72368D8C8}" v="44" dt="2024-11-05T16:44:13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EZ QUEZADA, DAVID" userId="da407fc3-c096-473e-aadd-5068028b2892" providerId="ADAL" clId="{3F3C7B28-C001-48DC-8CA9-09E72368D8C8}"/>
    <pc:docChg chg="delSld modSld">
      <pc:chgData name="FERNANDEZ QUEZADA, DAVID" userId="da407fc3-c096-473e-aadd-5068028b2892" providerId="ADAL" clId="{3F3C7B28-C001-48DC-8CA9-09E72368D8C8}" dt="2024-11-05T16:44:13.564" v="49" actId="20577"/>
      <pc:docMkLst>
        <pc:docMk/>
      </pc:docMkLst>
      <pc:sldChg chg="modSp mod">
        <pc:chgData name="FERNANDEZ QUEZADA, DAVID" userId="da407fc3-c096-473e-aadd-5068028b2892" providerId="ADAL" clId="{3F3C7B28-C001-48DC-8CA9-09E72368D8C8}" dt="2024-11-05T16:24:05.519" v="3" actId="1076"/>
        <pc:sldMkLst>
          <pc:docMk/>
          <pc:sldMk cId="3474295905" sldId="259"/>
        </pc:sldMkLst>
        <pc:spChg chg="mod">
          <ac:chgData name="FERNANDEZ QUEZADA, DAVID" userId="da407fc3-c096-473e-aadd-5068028b2892" providerId="ADAL" clId="{3F3C7B28-C001-48DC-8CA9-09E72368D8C8}" dt="2024-11-05T16:24:02.717" v="2" actId="1076"/>
          <ac:spMkLst>
            <pc:docMk/>
            <pc:sldMk cId="3474295905" sldId="259"/>
            <ac:spMk id="9" creationId="{57DDFB6A-744C-CCAE-7E41-CEA731213D0C}"/>
          </ac:spMkLst>
        </pc:spChg>
        <pc:spChg chg="mod">
          <ac:chgData name="FERNANDEZ QUEZADA, DAVID" userId="da407fc3-c096-473e-aadd-5068028b2892" providerId="ADAL" clId="{3F3C7B28-C001-48DC-8CA9-09E72368D8C8}" dt="2024-11-05T16:24:02.717" v="2" actId="1076"/>
          <ac:spMkLst>
            <pc:docMk/>
            <pc:sldMk cId="3474295905" sldId="259"/>
            <ac:spMk id="10" creationId="{5C1C5AD0-48A2-1655-E253-136A97530F58}"/>
          </ac:spMkLst>
        </pc:spChg>
        <pc:spChg chg="mod">
          <ac:chgData name="FERNANDEZ QUEZADA, DAVID" userId="da407fc3-c096-473e-aadd-5068028b2892" providerId="ADAL" clId="{3F3C7B28-C001-48DC-8CA9-09E72368D8C8}" dt="2024-11-05T16:24:02.717" v="2" actId="1076"/>
          <ac:spMkLst>
            <pc:docMk/>
            <pc:sldMk cId="3474295905" sldId="259"/>
            <ac:spMk id="14" creationId="{A5DCAFAC-9327-0A8F-153B-9BF57C47A913}"/>
          </ac:spMkLst>
        </pc:spChg>
        <pc:spChg chg="mod">
          <ac:chgData name="FERNANDEZ QUEZADA, DAVID" userId="da407fc3-c096-473e-aadd-5068028b2892" providerId="ADAL" clId="{3F3C7B28-C001-48DC-8CA9-09E72368D8C8}" dt="2024-11-05T16:24:02.717" v="2" actId="1076"/>
          <ac:spMkLst>
            <pc:docMk/>
            <pc:sldMk cId="3474295905" sldId="259"/>
            <ac:spMk id="15" creationId="{209D86B2-8970-9DE9-C037-204B0E2933A0}"/>
          </ac:spMkLst>
        </pc:spChg>
        <pc:picChg chg="mod">
          <ac:chgData name="FERNANDEZ QUEZADA, DAVID" userId="da407fc3-c096-473e-aadd-5068028b2892" providerId="ADAL" clId="{3F3C7B28-C001-48DC-8CA9-09E72368D8C8}" dt="2024-11-05T16:24:05.519" v="3" actId="1076"/>
          <ac:picMkLst>
            <pc:docMk/>
            <pc:sldMk cId="3474295905" sldId="259"/>
            <ac:picMk id="3076" creationId="{EE6BB7EE-7344-FE9F-1CE5-BF2A7B16A4B3}"/>
          </ac:picMkLst>
        </pc:picChg>
      </pc:sldChg>
      <pc:sldChg chg="addSp delSp modSp mod modAnim">
        <pc:chgData name="FERNANDEZ QUEZADA, DAVID" userId="da407fc3-c096-473e-aadd-5068028b2892" providerId="ADAL" clId="{3F3C7B28-C001-48DC-8CA9-09E72368D8C8}" dt="2024-11-05T16:33:04.639" v="11"/>
        <pc:sldMkLst>
          <pc:docMk/>
          <pc:sldMk cId="1854697920" sldId="262"/>
        </pc:sldMkLst>
        <pc:picChg chg="add">
          <ac:chgData name="FERNANDEZ QUEZADA, DAVID" userId="da407fc3-c096-473e-aadd-5068028b2892" providerId="ADAL" clId="{3F3C7B28-C001-48DC-8CA9-09E72368D8C8}" dt="2024-11-05T16:32:58.328" v="10" actId="22"/>
          <ac:picMkLst>
            <pc:docMk/>
            <pc:sldMk cId="1854697920" sldId="262"/>
            <ac:picMk id="5" creationId="{A1B9E279-DB6C-56D6-0C8B-4A11F6A098DF}"/>
          </ac:picMkLst>
        </pc:picChg>
        <pc:picChg chg="add mod">
          <ac:chgData name="FERNANDEZ QUEZADA, DAVID" userId="da407fc3-c096-473e-aadd-5068028b2892" providerId="ADAL" clId="{3F3C7B28-C001-48DC-8CA9-09E72368D8C8}" dt="2024-11-05T16:31:31.774" v="9" actId="14100"/>
          <ac:picMkLst>
            <pc:docMk/>
            <pc:sldMk cId="1854697920" sldId="262"/>
            <ac:picMk id="1026" creationId="{65A93D23-8886-396B-8EAE-EA54AF1FC553}"/>
          </ac:picMkLst>
        </pc:picChg>
        <pc:picChg chg="del">
          <ac:chgData name="FERNANDEZ QUEZADA, DAVID" userId="da407fc3-c096-473e-aadd-5068028b2892" providerId="ADAL" clId="{3F3C7B28-C001-48DC-8CA9-09E72368D8C8}" dt="2024-11-05T16:31:27.015" v="7" actId="478"/>
          <ac:picMkLst>
            <pc:docMk/>
            <pc:sldMk cId="1854697920" sldId="262"/>
            <ac:picMk id="6146" creationId="{8DD0883B-8A13-5777-E915-FD0C1831F81D}"/>
          </ac:picMkLst>
        </pc:picChg>
        <pc:picChg chg="del">
          <ac:chgData name="FERNANDEZ QUEZADA, DAVID" userId="da407fc3-c096-473e-aadd-5068028b2892" providerId="ADAL" clId="{3F3C7B28-C001-48DC-8CA9-09E72368D8C8}" dt="2024-11-05T16:31:21.158" v="4" actId="478"/>
          <ac:picMkLst>
            <pc:docMk/>
            <pc:sldMk cId="1854697920" sldId="262"/>
            <ac:picMk id="6148" creationId="{02E98172-04C0-9B88-96D3-592969D86E37}"/>
          </ac:picMkLst>
        </pc:picChg>
      </pc:sldChg>
      <pc:sldChg chg="addSp delSp modSp mod modAnim">
        <pc:chgData name="FERNANDEZ QUEZADA, DAVID" userId="da407fc3-c096-473e-aadd-5068028b2892" providerId="ADAL" clId="{3F3C7B28-C001-48DC-8CA9-09E72368D8C8}" dt="2024-11-05T16:38:30.931" v="29"/>
        <pc:sldMkLst>
          <pc:docMk/>
          <pc:sldMk cId="379174926" sldId="265"/>
        </pc:sldMkLst>
        <pc:picChg chg="add mod">
          <ac:chgData name="FERNANDEZ QUEZADA, DAVID" userId="da407fc3-c096-473e-aadd-5068028b2892" providerId="ADAL" clId="{3F3C7B28-C001-48DC-8CA9-09E72368D8C8}" dt="2024-11-05T16:38:28.327" v="28" actId="14100"/>
          <ac:picMkLst>
            <pc:docMk/>
            <pc:sldMk cId="379174926" sldId="265"/>
            <ac:picMk id="3" creationId="{13F198D9-44FB-9BA5-1419-295CA434AFA8}"/>
          </ac:picMkLst>
        </pc:picChg>
        <pc:picChg chg="add mod">
          <ac:chgData name="FERNANDEZ QUEZADA, DAVID" userId="da407fc3-c096-473e-aadd-5068028b2892" providerId="ADAL" clId="{3F3C7B28-C001-48DC-8CA9-09E72368D8C8}" dt="2024-11-05T16:37:04.738" v="21" actId="14100"/>
          <ac:picMkLst>
            <pc:docMk/>
            <pc:sldMk cId="379174926" sldId="265"/>
            <ac:picMk id="2050" creationId="{0756220C-9612-2BBE-EFD0-F2EC836285EB}"/>
          </ac:picMkLst>
        </pc:picChg>
        <pc:picChg chg="add mod">
          <ac:chgData name="FERNANDEZ QUEZADA, DAVID" userId="da407fc3-c096-473e-aadd-5068028b2892" providerId="ADAL" clId="{3F3C7B28-C001-48DC-8CA9-09E72368D8C8}" dt="2024-11-05T16:37:14.738" v="23" actId="1076"/>
          <ac:picMkLst>
            <pc:docMk/>
            <pc:sldMk cId="379174926" sldId="265"/>
            <ac:picMk id="2052" creationId="{89B24A40-E7E9-A36D-2F52-F6C7CF94E106}"/>
          </ac:picMkLst>
        </pc:picChg>
        <pc:picChg chg="add del">
          <ac:chgData name="FERNANDEZ QUEZADA, DAVID" userId="da407fc3-c096-473e-aadd-5068028b2892" providerId="ADAL" clId="{3F3C7B28-C001-48DC-8CA9-09E72368D8C8}" dt="2024-11-05T16:38:10.235" v="25" actId="478"/>
          <ac:picMkLst>
            <pc:docMk/>
            <pc:sldMk cId="379174926" sldId="265"/>
            <ac:picMk id="2054" creationId="{E091BD03-4D8D-3526-5140-F9F39973319B}"/>
          </ac:picMkLst>
        </pc:picChg>
        <pc:picChg chg="del mod">
          <ac:chgData name="FERNANDEZ QUEZADA, DAVID" userId="da407fc3-c096-473e-aadd-5068028b2892" providerId="ADAL" clId="{3F3C7B28-C001-48DC-8CA9-09E72368D8C8}" dt="2024-11-05T16:36:57.170" v="15" actId="478"/>
          <ac:picMkLst>
            <pc:docMk/>
            <pc:sldMk cId="379174926" sldId="265"/>
            <ac:picMk id="9218" creationId="{4D780BC4-06CD-EA7E-C9C1-320C504BCBCA}"/>
          </ac:picMkLst>
        </pc:picChg>
      </pc:sldChg>
      <pc:sldChg chg="modSp">
        <pc:chgData name="FERNANDEZ QUEZADA, DAVID" userId="da407fc3-c096-473e-aadd-5068028b2892" providerId="ADAL" clId="{3F3C7B28-C001-48DC-8CA9-09E72368D8C8}" dt="2024-11-05T16:44:13.564" v="49" actId="20577"/>
        <pc:sldMkLst>
          <pc:docMk/>
          <pc:sldMk cId="3931945537" sldId="269"/>
        </pc:sldMkLst>
        <pc:spChg chg="mod">
          <ac:chgData name="FERNANDEZ QUEZADA, DAVID" userId="da407fc3-c096-473e-aadd-5068028b2892" providerId="ADAL" clId="{3F3C7B28-C001-48DC-8CA9-09E72368D8C8}" dt="2024-11-05T16:44:13.564" v="49" actId="20577"/>
          <ac:spMkLst>
            <pc:docMk/>
            <pc:sldMk cId="3931945537" sldId="269"/>
            <ac:spMk id="15" creationId="{F55D6286-AEF3-ED66-8675-E74D0902D9A4}"/>
          </ac:spMkLst>
        </pc:spChg>
      </pc:sldChg>
      <pc:sldChg chg="del">
        <pc:chgData name="FERNANDEZ QUEZADA, DAVID" userId="da407fc3-c096-473e-aadd-5068028b2892" providerId="ADAL" clId="{3F3C7B28-C001-48DC-8CA9-09E72368D8C8}" dt="2024-11-05T16:22:22.943" v="0" actId="47"/>
        <pc:sldMkLst>
          <pc:docMk/>
          <pc:sldMk cId="1962143667" sldId="272"/>
        </pc:sldMkLst>
      </pc:sldChg>
      <pc:sldChg chg="del">
        <pc:chgData name="FERNANDEZ QUEZADA, DAVID" userId="da407fc3-c096-473e-aadd-5068028b2892" providerId="ADAL" clId="{3F3C7B28-C001-48DC-8CA9-09E72368D8C8}" dt="2024-11-05T16:22:22.943" v="0" actId="47"/>
        <pc:sldMkLst>
          <pc:docMk/>
          <pc:sldMk cId="2419952944" sldId="273"/>
        </pc:sldMkLst>
      </pc:sldChg>
      <pc:sldChg chg="del">
        <pc:chgData name="FERNANDEZ QUEZADA, DAVID" userId="da407fc3-c096-473e-aadd-5068028b2892" providerId="ADAL" clId="{3F3C7B28-C001-48DC-8CA9-09E72368D8C8}" dt="2024-11-05T16:22:22.943" v="0" actId="47"/>
        <pc:sldMkLst>
          <pc:docMk/>
          <pc:sldMk cId="431851684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B19BA-B652-5846-FBD9-1F3E21543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5F64B0-546B-FCD6-CF02-122F0AABB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20FBB2-F337-DF47-B110-25249148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0C50D6-1A50-995C-AC1C-15F2B30EE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CBD9CA-F817-CD29-C22E-F8925373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7605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68FE2-0A4F-6A7F-D6C2-7B6288D03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968614-F6CA-5AD7-CA82-2040FFD2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7AAF1C-CC48-47D1-1E41-C4D9D384F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A4A53E-D625-01F1-3EC6-76A16FBC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A329A7-D3C9-277B-FCC0-B62696E4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5502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54044-35D9-763E-5C5F-7FBEFDCBD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5F2306-6814-4CD3-E05A-E931F5A38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8AA854-3098-5AF8-F1BF-F01823A5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D63FE-D450-2A7F-FA97-477090D8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C20849-4E95-4165-E6C8-053F65DD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67127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41D08-9A62-8AD7-50B8-A6C91954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B3E065-8ADB-28C2-B802-25D6936C5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5A2DDE4-989A-C911-4C57-A614CF8C9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101CD9-E859-EF1C-3008-D18C614B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E823D1-9ED6-6672-F079-4AC02D3C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37AD4-C940-308E-6D51-A7A23884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4046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5AE8B-18D5-8883-EF47-A0197332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185B8E-ADE1-F87F-BF72-8121ADCA0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5D90B3-0EAA-B75E-8B39-DB727FDA9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0F351F-ED49-EAA2-D218-48AB2BC31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27A166F-36B9-AB58-D228-8C86D562C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7573438-6529-0543-91B6-06564FB7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D14977-2789-137D-8283-D245E2BF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0FF1C5-E5FA-EC9E-CAAF-D3541BF6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836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2F482-17F7-A866-6983-DBA73810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8E6925F-BEFB-E4D8-DCDF-D0265EFA6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D1C88B7-65FC-692B-680F-DD8B9926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EC7C09-A822-72D1-1E50-584F1AE1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3555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76355B-DAF5-E9A6-E9B1-2CB0DFE92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368B47-33E4-1EA8-01EB-036A9403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622FAB-6B69-9F30-2F8F-110BC5EE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014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64F84-8D20-8E1F-E5EB-4C540903A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563355-C094-2317-4BB5-8C0C7B0B9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AB3599-596F-F58E-9E80-7B503B746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A5E2DA-569C-1073-6786-AD587031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1C4C43-85AD-4FDF-0F34-643DE03B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01104FA-850F-CA5C-1E2F-60711BDB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346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AE420-CF46-EDF2-1D40-2697BC51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839DBE4-314A-D2F7-8BBC-5CB85D8A12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4C6ED9-1FAC-DE5D-B2DA-5BED03CC6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419849-C19D-19DF-D95B-A415EBBC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4CA07B-F920-56CB-6A5D-74E4FC07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54E3DB-6D9F-3D7B-3721-9CE3FFBA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883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DB931E-7554-CBFF-FDE6-FC3497F2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9B41280-5982-8E8F-1078-B988DAF6E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11C2AC-58BE-B5F0-6476-B0E5F302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BC34AF-C487-987C-3311-8AFA5FAC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CC2B3E-6485-F126-1E7D-BAE39B9B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9569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80F049-5820-FD63-EF93-60E39483E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8070F5-C265-9B9E-9A73-092C3EEA5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34BD62-8EDC-43C9-85D6-F5000FCD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58B235-8CD5-98EA-3C11-7F003ABF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6AFFA1-7DCD-1AD0-28CD-F7961333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4250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0CC8C0-1940-4B46-086B-AE905D52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B5DD8A-6371-ECED-B3CE-5C944C472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8FED2-F277-08D2-9E48-72EC7C7DB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11/5/2024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D37BD5-72B1-F619-E443-5CE40880D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27515C-7635-E4C4-5C2F-A90FE3702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26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s.wikipedia.org/wiki/Inteligencia" TargetMode="External"/><Relationship Id="rId3" Type="http://schemas.openxmlformats.org/officeDocument/2006/relationships/hyperlink" Target="https://es.wikipedia.org/wiki/Percepci%C3%B3n" TargetMode="External"/><Relationship Id="rId7" Type="http://schemas.openxmlformats.org/officeDocument/2006/relationships/hyperlink" Target="https://es.wikipedia.org/wiki/Sentimiento" TargetMode="External"/><Relationship Id="rId2" Type="http://schemas.openxmlformats.org/officeDocument/2006/relationships/hyperlink" Target="https://es.wikipedia.org/wiki/Sentido_(percepci%C3%B3n)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s.wikipedia.org/wiki/Emoci%C3%B3n" TargetMode="External"/><Relationship Id="rId5" Type="http://schemas.openxmlformats.org/officeDocument/2006/relationships/hyperlink" Target="https://es.wikipedia.org/wiki/Empat%C3%ADa" TargetMode="External"/><Relationship Id="rId4" Type="http://schemas.openxmlformats.org/officeDocument/2006/relationships/hyperlink" Target="https://es.wikipedia.org/wiki/Pensar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Prejuicio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C8625-6F54-095C-1AF1-90FCCB67E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0045" y="1346200"/>
            <a:ext cx="5624118" cy="3284538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s-MX" sz="4200"/>
              <a:t>Filogénesis y ontogénesis del sistema nervioso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F198E-71CC-F6AB-5DE4-25AB31D732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07" r="19007"/>
          <a:stretch/>
        </p:blipFill>
        <p:spPr>
          <a:xfrm>
            <a:off x="950259" y="1367611"/>
            <a:ext cx="4432693" cy="4094066"/>
          </a:xfrm>
          <a:custGeom>
            <a:avLst/>
            <a:gdLst/>
            <a:ahLst/>
            <a:cxnLst/>
            <a:rect l="l" t="t" r="r" b="b"/>
            <a:pathLst>
              <a:path w="4292584" h="4094066">
                <a:moveTo>
                  <a:pt x="2456537" y="0"/>
                </a:moveTo>
                <a:cubicBezTo>
                  <a:pt x="2738780" y="0"/>
                  <a:pt x="2998545" y="55066"/>
                  <a:pt x="3228742" y="163517"/>
                </a:cubicBezTo>
                <a:cubicBezTo>
                  <a:pt x="3444477" y="265234"/>
                  <a:pt x="3633959" y="413698"/>
                  <a:pt x="3791935" y="604700"/>
                </a:cubicBezTo>
                <a:cubicBezTo>
                  <a:pt x="4114802" y="995211"/>
                  <a:pt x="4292584" y="1550174"/>
                  <a:pt x="4292584" y="2167403"/>
                </a:cubicBezTo>
                <a:cubicBezTo>
                  <a:pt x="4292584" y="2413659"/>
                  <a:pt x="4223774" y="2611299"/>
                  <a:pt x="4069573" y="2808283"/>
                </a:cubicBezTo>
                <a:cubicBezTo>
                  <a:pt x="3908278" y="3014339"/>
                  <a:pt x="3665922" y="3204126"/>
                  <a:pt x="3409289" y="3405037"/>
                </a:cubicBezTo>
                <a:cubicBezTo>
                  <a:pt x="3361941" y="3442060"/>
                  <a:pt x="3313027" y="3480392"/>
                  <a:pt x="3264115" y="3519190"/>
                </a:cubicBezTo>
                <a:cubicBezTo>
                  <a:pt x="2826289" y="3866416"/>
                  <a:pt x="2506740" y="4094066"/>
                  <a:pt x="2071218" y="4094066"/>
                </a:cubicBezTo>
                <a:cubicBezTo>
                  <a:pt x="1407617" y="4094066"/>
                  <a:pt x="937645" y="3814621"/>
                  <a:pt x="499819" y="3159623"/>
                </a:cubicBezTo>
                <a:cubicBezTo>
                  <a:pt x="442524" y="3073891"/>
                  <a:pt x="386517" y="2995921"/>
                  <a:pt x="332353" y="2920566"/>
                </a:cubicBezTo>
                <a:cubicBezTo>
                  <a:pt x="107867" y="2608119"/>
                  <a:pt x="0" y="2445632"/>
                  <a:pt x="0" y="2167403"/>
                </a:cubicBezTo>
                <a:cubicBezTo>
                  <a:pt x="0" y="1891138"/>
                  <a:pt x="67612" y="1618236"/>
                  <a:pt x="200812" y="1356275"/>
                </a:cubicBezTo>
                <a:cubicBezTo>
                  <a:pt x="331156" y="1100015"/>
                  <a:pt x="517505" y="865448"/>
                  <a:pt x="754611" y="659299"/>
                </a:cubicBezTo>
                <a:cubicBezTo>
                  <a:pt x="987664" y="456610"/>
                  <a:pt x="1264470" y="289449"/>
                  <a:pt x="1555279" y="175950"/>
                </a:cubicBezTo>
                <a:cubicBezTo>
                  <a:pt x="1853918" y="59181"/>
                  <a:pt x="2157254" y="0"/>
                  <a:pt x="245653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1431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EBE9E29-A093-074B-5B9D-60F4398A77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D3096BA-8616-387E-B700-EB639B25F5EB}"/>
              </a:ext>
            </a:extLst>
          </p:cNvPr>
          <p:cNvSpPr txBox="1"/>
          <p:nvPr/>
        </p:nvSpPr>
        <p:spPr>
          <a:xfrm>
            <a:off x="1863213" y="452283"/>
            <a:ext cx="8465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Filogénesis del Sistema Nervioso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D82E5E-4F65-4407-A0FA-33855D355D7F}"/>
              </a:ext>
            </a:extLst>
          </p:cNvPr>
          <p:cNvSpPr txBox="1"/>
          <p:nvPr/>
        </p:nvSpPr>
        <p:spPr>
          <a:xfrm>
            <a:off x="176981" y="1455625"/>
            <a:ext cx="116512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0" i="0" dirty="0">
                <a:solidFill>
                  <a:srgbClr val="333333"/>
                </a:solidFill>
                <a:effectLst/>
                <a:latin typeface="Shanti"/>
              </a:rPr>
              <a:t>Termino para designar el proceso de la </a:t>
            </a:r>
            <a:r>
              <a:rPr lang="es-ES" sz="3600" b="1" i="0" dirty="0">
                <a:solidFill>
                  <a:srgbClr val="333333"/>
                </a:solidFill>
                <a:effectLst/>
                <a:latin typeface="Shanti"/>
              </a:rPr>
              <a:t>evolución ascendente </a:t>
            </a:r>
            <a:r>
              <a:rPr lang="es-ES" sz="3600" b="0" i="0" dirty="0">
                <a:solidFill>
                  <a:srgbClr val="333333"/>
                </a:solidFill>
                <a:effectLst/>
                <a:latin typeface="Shanti"/>
              </a:rPr>
              <a:t>de las especies</a:t>
            </a:r>
            <a:endParaRPr lang="es-MX" sz="3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EAC045-9220-B867-526B-D955AF3A6197}"/>
              </a:ext>
            </a:extLst>
          </p:cNvPr>
          <p:cNvSpPr txBox="1"/>
          <p:nvPr/>
        </p:nvSpPr>
        <p:spPr>
          <a:xfrm>
            <a:off x="270388" y="4553480"/>
            <a:ext cx="11523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0" i="0" dirty="0">
                <a:solidFill>
                  <a:srgbClr val="333333"/>
                </a:solidFill>
                <a:effectLst/>
                <a:latin typeface="Shanti"/>
              </a:rPr>
              <a:t> Es el proceso de </a:t>
            </a:r>
            <a:r>
              <a:rPr lang="es-ES" sz="3600" b="1" i="0" dirty="0">
                <a:solidFill>
                  <a:srgbClr val="333333"/>
                </a:solidFill>
                <a:effectLst/>
                <a:latin typeface="Shanti"/>
              </a:rPr>
              <a:t>desarrollo</a:t>
            </a:r>
            <a:r>
              <a:rPr lang="es-ES" sz="3600" b="0" i="0" dirty="0">
                <a:solidFill>
                  <a:srgbClr val="333333"/>
                </a:solidFill>
                <a:effectLst/>
                <a:latin typeface="Shanti"/>
              </a:rPr>
              <a:t> de un organismo.</a:t>
            </a:r>
            <a:endParaRPr lang="es-MX" sz="36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97E62C-4F05-1363-28D8-45B05DDF9E97}"/>
              </a:ext>
            </a:extLst>
          </p:cNvPr>
          <p:cNvSpPr txBox="1"/>
          <p:nvPr/>
        </p:nvSpPr>
        <p:spPr>
          <a:xfrm>
            <a:off x="1863213" y="3429000"/>
            <a:ext cx="8465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Ontogénesis del Sistema Nervioso </a:t>
            </a:r>
          </a:p>
        </p:txBody>
      </p:sp>
    </p:spTree>
    <p:extLst>
      <p:ext uri="{BB962C8B-B14F-4D97-AF65-F5344CB8AC3E}">
        <p14:creationId xmlns:p14="http://schemas.microsoft.com/office/powerpoint/2010/main" val="200748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86183C6-7A93-B6A2-8645-007C912BD756}"/>
              </a:ext>
            </a:extLst>
          </p:cNvPr>
          <p:cNvSpPr txBox="1"/>
          <p:nvPr/>
        </p:nvSpPr>
        <p:spPr>
          <a:xfrm>
            <a:off x="3264310" y="7097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latin typeface="TimesNewRomanPSMT"/>
              </a:rPr>
              <a:t>E</a:t>
            </a:r>
            <a:r>
              <a:rPr lang="es-MX" sz="4000" b="1" i="0" u="none" strike="noStrike" baseline="0" dirty="0">
                <a:latin typeface="TimesNewRomanPSMT"/>
              </a:rPr>
              <a:t>studio evolutivo del SN</a:t>
            </a:r>
            <a:endParaRPr lang="es-MX" sz="4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402EDE9-8758-EDBF-632F-E3C593E8BF48}"/>
              </a:ext>
            </a:extLst>
          </p:cNvPr>
          <p:cNvSpPr txBox="1"/>
          <p:nvPr/>
        </p:nvSpPr>
        <p:spPr>
          <a:xfrm>
            <a:off x="127818" y="1417956"/>
            <a:ext cx="49062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i="1" u="none" strike="noStrike" baseline="0" dirty="0">
                <a:latin typeface="TimesNewRomanPS-BoldItalicMT"/>
              </a:rPr>
              <a:t>Animales sin sistema nervioso</a:t>
            </a:r>
            <a:endParaRPr lang="es-MX" sz="2800" dirty="0"/>
          </a:p>
        </p:txBody>
      </p:sp>
      <p:pic>
        <p:nvPicPr>
          <p:cNvPr id="2050" name="Picture 2" descr="Bacteria | NHGRI">
            <a:extLst>
              <a:ext uri="{FF2B5EF4-FFF2-40B4-BE49-F238E27FC236}">
                <a16:creationId xmlns:a16="http://schemas.microsoft.com/office/drawing/2014/main" id="{39693DA4-D7FA-41DF-CE99-15C9A7006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32" y="1884988"/>
            <a:ext cx="5056115" cy="474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as Mejores Esponjas Marinas del 2022 ¿Cuál comprar?">
            <a:extLst>
              <a:ext uri="{FF2B5EF4-FFF2-40B4-BE49-F238E27FC236}">
                <a16:creationId xmlns:a16="http://schemas.microsoft.com/office/drawing/2014/main" id="{F4B8C090-55F3-0F97-89F7-B2D6C49BF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3547" y="2477729"/>
            <a:ext cx="5899355" cy="331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723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99F5B4B-2508-07A4-8366-62E48222DC35}"/>
              </a:ext>
            </a:extLst>
          </p:cNvPr>
          <p:cNvSpPr txBox="1"/>
          <p:nvPr/>
        </p:nvSpPr>
        <p:spPr>
          <a:xfrm>
            <a:off x="47470" y="89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latin typeface="TimesNewRomanPSMT"/>
              </a:rPr>
              <a:t>E</a:t>
            </a:r>
            <a:r>
              <a:rPr lang="es-MX" sz="4000" b="1" i="0" u="none" strike="noStrike" baseline="0" dirty="0">
                <a:latin typeface="TimesNewRomanPSMT"/>
              </a:rPr>
              <a:t>studio evolutivo del SN</a:t>
            </a:r>
            <a:endParaRPr lang="es-MX" sz="40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EA6D3B0-700F-C9A1-BE88-5D60A62176F9}"/>
              </a:ext>
            </a:extLst>
          </p:cNvPr>
          <p:cNvSpPr txBox="1"/>
          <p:nvPr/>
        </p:nvSpPr>
        <p:spPr>
          <a:xfrm>
            <a:off x="895661" y="824557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1" u="none" strike="noStrike" baseline="0" dirty="0">
                <a:latin typeface="TimesNewRomanPS-BoldItalicMT"/>
              </a:rPr>
              <a:t>Sistema nervioso de los invertebrados</a:t>
            </a:r>
            <a:endParaRPr lang="es-MX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CC19B0-E3AA-2910-EAC0-1EC83711E58D}"/>
              </a:ext>
            </a:extLst>
          </p:cNvPr>
          <p:cNvSpPr txBox="1"/>
          <p:nvPr/>
        </p:nvSpPr>
        <p:spPr>
          <a:xfrm>
            <a:off x="6143470" y="1485238"/>
            <a:ext cx="32323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i="0" u="none" strike="noStrike" baseline="0" dirty="0">
                <a:latin typeface="TimesNewRomanPSMT"/>
              </a:rPr>
              <a:t>Etapas de evolución</a:t>
            </a:r>
            <a:endParaRPr lang="es-MX" sz="28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7DDFB6A-744C-CCAE-7E41-CEA731213D0C}"/>
              </a:ext>
            </a:extLst>
          </p:cNvPr>
          <p:cNvSpPr txBox="1"/>
          <p:nvPr/>
        </p:nvSpPr>
        <p:spPr>
          <a:xfrm>
            <a:off x="527284" y="2061417"/>
            <a:ext cx="6159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sz="2800" dirty="0">
                <a:latin typeface="TimesNewRomanPS-BoldMT"/>
              </a:rPr>
              <a:t>S</a:t>
            </a:r>
            <a:r>
              <a:rPr lang="es-MX" sz="2800" i="0" u="none" strike="noStrike" baseline="0" dirty="0">
                <a:latin typeface="TimesNewRomanPS-BoldMT"/>
              </a:rPr>
              <a:t>istema nervioso reticular:</a:t>
            </a:r>
            <a:endParaRPr lang="es-MX" sz="28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C1C5AD0-48A2-1655-E253-136A97530F58}"/>
              </a:ext>
            </a:extLst>
          </p:cNvPr>
          <p:cNvSpPr txBox="1"/>
          <p:nvPr/>
        </p:nvSpPr>
        <p:spPr>
          <a:xfrm>
            <a:off x="527284" y="3185839"/>
            <a:ext cx="61599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latin typeface="TimesNewRomanPS-BoldMT"/>
              </a:rPr>
              <a:t>2. S</a:t>
            </a:r>
            <a:r>
              <a:rPr lang="es-MX" sz="2800" i="0" u="none" strike="noStrike" baseline="0" dirty="0">
                <a:latin typeface="TimesNewRomanPS-BoldMT"/>
              </a:rPr>
              <a:t>e organiza como un sistema nervioso ganglionar:</a:t>
            </a:r>
            <a:endParaRPr lang="es-MX" sz="28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DCAFAC-9327-0A8F-153B-9BF57C47A913}"/>
              </a:ext>
            </a:extLst>
          </p:cNvPr>
          <p:cNvSpPr txBox="1"/>
          <p:nvPr/>
        </p:nvSpPr>
        <p:spPr>
          <a:xfrm>
            <a:off x="603485" y="2584637"/>
            <a:ext cx="5919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Formados únicamente de tejidos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09D86B2-8970-9DE9-C037-204B0E2933A0}"/>
              </a:ext>
            </a:extLst>
          </p:cNvPr>
          <p:cNvSpPr txBox="1"/>
          <p:nvPr/>
        </p:nvSpPr>
        <p:spPr>
          <a:xfrm>
            <a:off x="496877" y="4139946"/>
            <a:ext cx="79365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EL SN es ventral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eje longitudinal con cabeza y cola en los extremos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800" dirty="0"/>
              <a:t>Agrupación de células nerviosas (ganglios) con tendencia a la especialización (olfato, vista…)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Inicio de la segmentación (</a:t>
            </a:r>
            <a:r>
              <a:rPr lang="es-MX" sz="2800" dirty="0" err="1"/>
              <a:t>metámera</a:t>
            </a:r>
            <a:r>
              <a:rPr lang="es-MX" sz="2800" dirty="0"/>
              <a:t>)</a:t>
            </a:r>
          </a:p>
        </p:txBody>
      </p:sp>
      <p:pic>
        <p:nvPicPr>
          <p:cNvPr id="3076" name="Picture 4" descr="Sistema nervioso moluscos y equinodermos | asancheztome | Flickr">
            <a:extLst>
              <a:ext uri="{FF2B5EF4-FFF2-40B4-BE49-F238E27FC236}">
                <a16:creationId xmlns:a16="http://schemas.microsoft.com/office/drawing/2014/main" id="{EE6BB7EE-7344-FE9F-1CE5-BF2A7B16A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061" y="1237860"/>
            <a:ext cx="8208372" cy="56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2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EA85390-49E3-C062-87E2-C4217F3D392A}"/>
              </a:ext>
            </a:extLst>
          </p:cNvPr>
          <p:cNvSpPr txBox="1"/>
          <p:nvPr/>
        </p:nvSpPr>
        <p:spPr>
          <a:xfrm>
            <a:off x="47470" y="894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>
                <a:latin typeface="TimesNewRomanPSMT"/>
              </a:rPr>
              <a:t>E</a:t>
            </a:r>
            <a:r>
              <a:rPr lang="es-MX" sz="4000" b="1" i="0" u="none" strike="noStrike" baseline="0" dirty="0">
                <a:latin typeface="TimesNewRomanPSMT"/>
              </a:rPr>
              <a:t>studio evolutivo del SN</a:t>
            </a:r>
            <a:endParaRPr lang="es-MX" sz="40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F9DD87-0D31-73C5-C4AF-67138E9E1BE0}"/>
              </a:ext>
            </a:extLst>
          </p:cNvPr>
          <p:cNvSpPr txBox="1"/>
          <p:nvPr/>
        </p:nvSpPr>
        <p:spPr>
          <a:xfrm>
            <a:off x="895661" y="725782"/>
            <a:ext cx="6095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1" u="none" strike="noStrike" baseline="0" dirty="0">
                <a:latin typeface="TimesNewRomanPS-BoldItalicMT"/>
              </a:rPr>
              <a:t>Sistema nervioso de los vertebrados</a:t>
            </a:r>
            <a:endParaRPr lang="es-MX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38B633-FDDE-A81D-18E8-D623A1A79ED0}"/>
              </a:ext>
            </a:extLst>
          </p:cNvPr>
          <p:cNvSpPr txBox="1"/>
          <p:nvPr/>
        </p:nvSpPr>
        <p:spPr>
          <a:xfrm>
            <a:off x="127819" y="987392"/>
            <a:ext cx="11936362" cy="5840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Desarrollo a partir del tubo neural</a:t>
            </a:r>
          </a:p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Simetría bilateral </a:t>
            </a:r>
            <a:endParaRPr lang="es-ES" sz="2800" dirty="0">
              <a:latin typeface="TimesNewRomanPSMT"/>
            </a:endParaRPr>
          </a:p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Segmentación: salen un par de nervios espinales para cada segmento de la médula</a:t>
            </a:r>
          </a:p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Control jerárquico: los hemisferios cerebrales controlan la actividad de </a:t>
            </a:r>
            <a:r>
              <a:rPr lang="es-MX" sz="2800" b="0" i="0" u="none" strike="noStrike" baseline="0" dirty="0">
                <a:latin typeface="TimesNewRomanPSMT"/>
              </a:rPr>
              <a:t>la médula espinal</a:t>
            </a:r>
          </a:p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Sistemas separados: el SNC se diferencia del </a:t>
            </a:r>
            <a:r>
              <a:rPr lang="es-MX" sz="2800" b="0" i="0" u="none" strike="noStrike" baseline="0" dirty="0">
                <a:latin typeface="TimesNewRomanPSMT"/>
              </a:rPr>
              <a:t>SNP</a:t>
            </a:r>
          </a:p>
          <a:p>
            <a:pPr algn="l">
              <a:lnSpc>
                <a:spcPct val="150000"/>
              </a:lnSpc>
            </a:pPr>
            <a:r>
              <a:rPr lang="es-ES" sz="2800" b="0" i="0" u="none" strike="noStrike" baseline="0" dirty="0">
                <a:latin typeface="TimesNewRomanPSMT"/>
              </a:rPr>
              <a:t>• Localización de funciones: ciertas funciones están controladas por determinadas</a:t>
            </a:r>
          </a:p>
          <a:p>
            <a:pPr algn="l">
              <a:lnSpc>
                <a:spcPct val="150000"/>
              </a:lnSpc>
            </a:pPr>
            <a:r>
              <a:rPr lang="es-MX" sz="2800" b="0" i="0" u="none" strike="noStrike" baseline="0" dirty="0">
                <a:latin typeface="TimesNewRomanPSMT"/>
              </a:rPr>
              <a:t>localizaciones del SNC</a:t>
            </a:r>
            <a:endParaRPr lang="es-MX" sz="2800" dirty="0"/>
          </a:p>
        </p:txBody>
      </p:sp>
      <p:pic>
        <p:nvPicPr>
          <p:cNvPr id="4106" name="Picture 10" descr="Pin en Infografías Psicología">
            <a:extLst>
              <a:ext uri="{FF2B5EF4-FFF2-40B4-BE49-F238E27FC236}">
                <a16:creationId xmlns:a16="http://schemas.microsoft.com/office/drawing/2014/main" id="{713F2FAD-5553-2171-78C1-E656714EF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07" y="815309"/>
            <a:ext cx="6698791" cy="592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in en Infografías Psicología">
            <a:extLst>
              <a:ext uri="{FF2B5EF4-FFF2-40B4-BE49-F238E27FC236}">
                <a16:creationId xmlns:a16="http://schemas.microsoft.com/office/drawing/2014/main" id="{B15A28EF-3383-8848-E930-126DAD336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2403717"/>
            <a:ext cx="5701014" cy="2394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65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Of Mice and Men: Complications of Animal Models in Autism Research |  Cortical Chauvinism">
            <a:extLst>
              <a:ext uri="{FF2B5EF4-FFF2-40B4-BE49-F238E27FC236}">
                <a16:creationId xmlns:a16="http://schemas.microsoft.com/office/drawing/2014/main" id="{8446C8B3-A160-C20F-DA89-2BE40FDF0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449" y="882445"/>
            <a:ext cx="5830637" cy="509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or Qué Los Cerebros Más Grandes Son Más Susceptibles A Las Enfermedades  Mentales – Feel the Brain">
            <a:extLst>
              <a:ext uri="{FF2B5EF4-FFF2-40B4-BE49-F238E27FC236}">
                <a16:creationId xmlns:a16="http://schemas.microsoft.com/office/drawing/2014/main" id="{2A005E17-A1BB-F8B9-E26C-80425AFBC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10" y="1119802"/>
            <a:ext cx="5946433" cy="461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07915F6-2DF7-44A5-43A8-20FD19AA6E67}"/>
              </a:ext>
            </a:extLst>
          </p:cNvPr>
          <p:cNvSpPr txBox="1"/>
          <p:nvPr/>
        </p:nvSpPr>
        <p:spPr>
          <a:xfrm>
            <a:off x="452284" y="5909568"/>
            <a:ext cx="11592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800" b="0" i="0" u="none" strike="noStrike" baseline="0" dirty="0">
                <a:latin typeface="TimesNewRomanPSMT"/>
              </a:rPr>
              <a:t>En ambos </a:t>
            </a:r>
            <a:r>
              <a:rPr lang="es-ES" sz="1800" b="0" i="0" u="none" strike="noStrike" baseline="0" dirty="0">
                <a:latin typeface="TimesNewRomanPSMT"/>
              </a:rPr>
              <a:t>cerebros, las estructuras principales son las mismas y tienen idénticas relaciones topológicas el uno con el otro.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3592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00725D-EA1A-D0CA-2398-91AD6411E653}"/>
              </a:ext>
            </a:extLst>
          </p:cNvPr>
          <p:cNvSpPr txBox="1"/>
          <p:nvPr/>
        </p:nvSpPr>
        <p:spPr>
          <a:xfrm>
            <a:off x="2240909" y="97438"/>
            <a:ext cx="77101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b="1" i="1" u="none" strike="noStrike" baseline="0" dirty="0">
                <a:latin typeface="TimesNewRomanPS-ItalicMT"/>
              </a:rPr>
              <a:t>Evolución de la corteza de los mamíferos</a:t>
            </a:r>
            <a:endParaRPr lang="es-MX" sz="60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0D9A8A-17EB-0F9D-D58B-7D1D6B6AD96D}"/>
              </a:ext>
            </a:extLst>
          </p:cNvPr>
          <p:cNvSpPr txBox="1"/>
          <p:nvPr/>
        </p:nvSpPr>
        <p:spPr>
          <a:xfrm>
            <a:off x="96631" y="1102513"/>
            <a:ext cx="82345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800" dirty="0">
                <a:latin typeface="TimesNewRomanPSMT"/>
              </a:rPr>
              <a:t>L</a:t>
            </a:r>
            <a:r>
              <a:rPr lang="es-ES" sz="2800" b="0" i="0" u="none" strike="noStrike" baseline="0" dirty="0">
                <a:latin typeface="TimesNewRomanPSMT"/>
              </a:rPr>
              <a:t>a </a:t>
            </a:r>
            <a:r>
              <a:rPr lang="es-ES" sz="2800" b="0" i="0" u="none" strike="noStrike" baseline="0" dirty="0" err="1">
                <a:latin typeface="TimesNewRomanPSMT"/>
              </a:rPr>
              <a:t>neocorteza</a:t>
            </a:r>
            <a:r>
              <a:rPr lang="es-ES" sz="2800" b="0" i="0" u="none" strike="noStrike" baseline="0" dirty="0">
                <a:latin typeface="TimesNewRomanPSMT"/>
              </a:rPr>
              <a:t> representa más de la mitad del</a:t>
            </a:r>
          </a:p>
          <a:p>
            <a:pPr algn="l"/>
            <a:r>
              <a:rPr lang="es-MX" sz="2800" b="0" i="0" u="none" strike="noStrike" baseline="0" dirty="0">
                <a:latin typeface="TimesNewRomanPSMT"/>
              </a:rPr>
              <a:t>volumen del encéfalo.</a:t>
            </a:r>
            <a:endParaRPr lang="es-MX" sz="2800" dirty="0"/>
          </a:p>
        </p:txBody>
      </p:sp>
      <p:pic>
        <p:nvPicPr>
          <p:cNvPr id="1026" name="Picture 2" descr="Ce n'est pas la taille qui compte, ce sont les milliards de neurones ! :  r/interestingasfuck">
            <a:extLst>
              <a:ext uri="{FF2B5EF4-FFF2-40B4-BE49-F238E27FC236}">
                <a16:creationId xmlns:a16="http://schemas.microsoft.com/office/drawing/2014/main" id="{65A93D23-8886-396B-8EAE-EA54AF1FC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223" y="1579565"/>
            <a:ext cx="7305720" cy="534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1B9E279-DB6C-56D6-0C8B-4A11F6A09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16"/>
            <a:ext cx="12192000" cy="660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9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AAE119D-D622-C6C9-A9EE-ADB44B4BA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84" y="476558"/>
            <a:ext cx="4285737" cy="257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La evolución del cerebro humano - Revista Mètode">
            <a:extLst>
              <a:ext uri="{FF2B5EF4-FFF2-40B4-BE49-F238E27FC236}">
                <a16:creationId xmlns:a16="http://schemas.microsoft.com/office/drawing/2014/main" id="{77319411-8532-E036-0712-5177503E1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4" y="3302870"/>
            <a:ext cx="11964191" cy="2045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ost: El tamaño no importa: Estudio concluye que organización y no tamaño  global del cerebro dio ventaja evolutiva a grandes simios">
            <a:extLst>
              <a:ext uri="{FF2B5EF4-FFF2-40B4-BE49-F238E27FC236}">
                <a16:creationId xmlns:a16="http://schemas.microsoft.com/office/drawing/2014/main" id="{6BDAAD11-39E3-5FC1-91D9-80DBBC44E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464" y="266210"/>
            <a:ext cx="4941784" cy="2880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49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5E62D68-7166-99C5-BE6B-473791828A81}"/>
              </a:ext>
            </a:extLst>
          </p:cNvPr>
          <p:cNvSpPr txBox="1"/>
          <p:nvPr/>
        </p:nvSpPr>
        <p:spPr>
          <a:xfrm>
            <a:off x="3185651" y="11030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i="0" u="none" strike="noStrike" baseline="0" dirty="0">
                <a:latin typeface="TimesNewRomanPS-BoldMT"/>
              </a:rPr>
              <a:t>Ontogénesis del sistema nervioso</a:t>
            </a:r>
            <a:endParaRPr lang="es-MX" sz="3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6F4BF4-3BAA-116C-22DE-16BEA22764D6}"/>
              </a:ext>
            </a:extLst>
          </p:cNvPr>
          <p:cNvSpPr txBox="1"/>
          <p:nvPr/>
        </p:nvSpPr>
        <p:spPr>
          <a:xfrm>
            <a:off x="5319252" y="35921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i="1" u="none" strike="noStrike" baseline="0" dirty="0">
                <a:latin typeface="TimesNewRomanPS-BoldItalicMT"/>
              </a:rPr>
              <a:t>Morfogénesis del sistema nervioso</a:t>
            </a:r>
            <a:endParaRPr lang="es-MX" sz="2800" dirty="0"/>
          </a:p>
        </p:txBody>
      </p:sp>
      <p:pic>
        <p:nvPicPr>
          <p:cNvPr id="8194" name="Picture 2" descr="Aprendizaje prenatal – Centro de Servicios Psicológicos María Jiménez">
            <a:extLst>
              <a:ext uri="{FF2B5EF4-FFF2-40B4-BE49-F238E27FC236}">
                <a16:creationId xmlns:a16="http://schemas.microsoft.com/office/drawing/2014/main" id="{D95E7CC9-1EB3-5C91-5828-3F07FC503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5" y="1083512"/>
            <a:ext cx="4505325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2F816D7-05E5-9201-F4EC-53843DD91BBF}"/>
              </a:ext>
            </a:extLst>
          </p:cNvPr>
          <p:cNvSpPr txBox="1"/>
          <p:nvPr/>
        </p:nvSpPr>
        <p:spPr>
          <a:xfrm>
            <a:off x="4984954" y="9451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>
                <a:latin typeface="TimesNewRomanPSMT"/>
              </a:rPr>
              <a:t>L</a:t>
            </a:r>
            <a:r>
              <a:rPr lang="es-MX" sz="2800" b="0" i="0" u="none" strike="noStrike" baseline="0" dirty="0">
                <a:latin typeface="TimesNewRomanPSMT"/>
              </a:rPr>
              <a:t>as células nerviosas</a:t>
            </a:r>
            <a:endParaRPr lang="es-MX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13DE71-7D74-73A4-F332-6D45C8636328}"/>
              </a:ext>
            </a:extLst>
          </p:cNvPr>
          <p:cNvSpPr txBox="1"/>
          <p:nvPr/>
        </p:nvSpPr>
        <p:spPr>
          <a:xfrm>
            <a:off x="4984954" y="147177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2400" b="0" i="0" u="none" strike="noStrike" baseline="0" dirty="0">
                <a:latin typeface="TimesNewRomanPSMT"/>
              </a:rPr>
              <a:t>Localizan en</a:t>
            </a:r>
            <a:r>
              <a:rPr lang="es-MX" sz="2400" dirty="0">
                <a:latin typeface="TimesNewRomanPSMT"/>
              </a:rPr>
              <a:t> </a:t>
            </a:r>
            <a:r>
              <a:rPr lang="es-ES" sz="2400" b="0" i="0" u="none" strike="noStrike" baseline="0" dirty="0">
                <a:latin typeface="TimesNewRomanPSMT"/>
              </a:rPr>
              <a:t>sus lugares y se forman las diferentes estructuras</a:t>
            </a:r>
            <a:endParaRPr lang="es-MX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32192B-6286-8021-67BA-881B605284A5}"/>
              </a:ext>
            </a:extLst>
          </p:cNvPr>
          <p:cNvSpPr txBox="1"/>
          <p:nvPr/>
        </p:nvSpPr>
        <p:spPr>
          <a:xfrm>
            <a:off x="4984953" y="232019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2400" b="0" i="0" u="none" strike="noStrike" baseline="0" dirty="0">
                <a:latin typeface="TimesNewRomanPSMT"/>
              </a:rPr>
              <a:t>Forman sus axones, establecen conexiones y se </a:t>
            </a:r>
            <a:r>
              <a:rPr lang="es-MX" sz="2400" b="0" i="0" u="none" strike="noStrike" baseline="0" dirty="0">
                <a:latin typeface="TimesNewRomanPSMT"/>
              </a:rPr>
              <a:t>inicia la actividad neural</a:t>
            </a:r>
            <a:endParaRPr lang="es-MX" sz="2400" dirty="0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7CC747CE-23E1-3A26-7BB7-DAF6359D33AF}"/>
              </a:ext>
            </a:extLst>
          </p:cNvPr>
          <p:cNvSpPr/>
          <p:nvPr/>
        </p:nvSpPr>
        <p:spPr>
          <a:xfrm>
            <a:off x="7659329" y="4115331"/>
            <a:ext cx="619432" cy="523220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AED120-9713-4B4A-E270-C7A934BB295D}"/>
              </a:ext>
            </a:extLst>
          </p:cNvPr>
          <p:cNvSpPr txBox="1"/>
          <p:nvPr/>
        </p:nvSpPr>
        <p:spPr>
          <a:xfrm>
            <a:off x="3765753" y="4909172"/>
            <a:ext cx="8534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latin typeface="TimesNewRomanPSMT"/>
              </a:rPr>
              <a:t>P</a:t>
            </a:r>
            <a:r>
              <a:rPr lang="es-ES" sz="2800" b="0" i="0" u="none" strike="noStrike" baseline="0" dirty="0">
                <a:latin typeface="TimesNewRomanPSMT"/>
              </a:rPr>
              <a:t>roceso mediante el que el encéfalo adquiere de manera</a:t>
            </a:r>
          </a:p>
          <a:p>
            <a:pPr algn="ctr"/>
            <a:r>
              <a:rPr lang="es-MX" sz="2800" b="0" i="0" u="none" strike="noStrike" baseline="0" dirty="0">
                <a:latin typeface="TimesNewRomanPSMT"/>
              </a:rPr>
              <a:t>progresiva su forma madura</a:t>
            </a:r>
            <a:endParaRPr lang="es-MX" sz="4000" dirty="0"/>
          </a:p>
        </p:txBody>
      </p:sp>
    </p:spTree>
    <p:extLst>
      <p:ext uri="{BB962C8B-B14F-4D97-AF65-F5344CB8AC3E}">
        <p14:creationId xmlns:p14="http://schemas.microsoft.com/office/powerpoint/2010/main" val="550198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enatal development of the human brain showing a series of embryonic... |  Download Scientific Diagram">
            <a:extLst>
              <a:ext uri="{FF2B5EF4-FFF2-40B4-BE49-F238E27FC236}">
                <a16:creationId xmlns:a16="http://schemas.microsoft.com/office/drawing/2014/main" id="{0756220C-9612-2BBE-EFD0-F2EC83628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" y="489584"/>
            <a:ext cx="5276179" cy="593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olecular insights into human brain evolution | Nature">
            <a:extLst>
              <a:ext uri="{FF2B5EF4-FFF2-40B4-BE49-F238E27FC236}">
                <a16:creationId xmlns:a16="http://schemas.microsoft.com/office/drawing/2014/main" id="{89B24A40-E7E9-A36D-2F52-F6C7CF94E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988" y="1009650"/>
            <a:ext cx="57150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F198D9-44FB-9BA5-1419-295CA434A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09" y="163555"/>
            <a:ext cx="11926899" cy="625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BB123C0-24D2-003B-1A0D-81F5730CDB2D}"/>
              </a:ext>
            </a:extLst>
          </p:cNvPr>
          <p:cNvSpPr txBox="1"/>
          <p:nvPr/>
        </p:nvSpPr>
        <p:spPr>
          <a:xfrm>
            <a:off x="304801" y="169295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000" b="1" dirty="0"/>
              <a:t>El</a:t>
            </a:r>
            <a:r>
              <a:rPr lang="es-MX" sz="4000" dirty="0"/>
              <a:t> </a:t>
            </a:r>
            <a:r>
              <a:rPr lang="es-MX" sz="4000" b="1" dirty="0"/>
              <a:t>psiquismo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2D9E2D-FC4D-59B2-6D1C-EA4F9736C54E}"/>
              </a:ext>
            </a:extLst>
          </p:cNvPr>
          <p:cNvSpPr txBox="1"/>
          <p:nvPr/>
        </p:nvSpPr>
        <p:spPr>
          <a:xfrm>
            <a:off x="648929" y="1179474"/>
            <a:ext cx="105303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200" dirty="0">
                <a:solidFill>
                  <a:srgbClr val="202122"/>
                </a:solidFill>
                <a:latin typeface="Arial" panose="020B0604020202020204" pitchFamily="34" charset="0"/>
              </a:rPr>
              <a:t>U</a:t>
            </a:r>
            <a:r>
              <a:rPr lang="es-E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 sistema de </a:t>
            </a:r>
            <a:r>
              <a:rPr lang="es-ES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estructuras y procesos </a:t>
            </a:r>
            <a:r>
              <a:rPr lang="es-ES" sz="32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construido sobre la base del funcionamiento de las estructuras biológicas preexistentes</a:t>
            </a:r>
            <a:endParaRPr lang="es-MX" sz="32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6C6108-9D3B-F73A-48F7-92E61A9167BE}"/>
              </a:ext>
            </a:extLst>
          </p:cNvPr>
          <p:cNvSpPr txBox="1"/>
          <p:nvPr/>
        </p:nvSpPr>
        <p:spPr>
          <a:xfrm>
            <a:off x="2251586" y="3051427"/>
            <a:ext cx="6882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ADAPTACIÓN AL MEDIO AMBIENTE</a:t>
            </a:r>
            <a:endParaRPr lang="es-MX" sz="2800" b="1" dirty="0">
              <a:solidFill>
                <a:srgbClr val="FF0000"/>
              </a:solidFill>
            </a:endParaRPr>
          </a:p>
        </p:txBody>
      </p:sp>
      <p:pic>
        <p:nvPicPr>
          <p:cNvPr id="10244" name="Picture 4" descr="Estado, corpo e psiquismo obstruem a vida qualificada – Portal Viu">
            <a:extLst>
              <a:ext uri="{FF2B5EF4-FFF2-40B4-BE49-F238E27FC236}">
                <a16:creationId xmlns:a16="http://schemas.microsoft.com/office/drawing/2014/main" id="{44B07C55-3C7F-1658-B93D-CF5CB598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807" y="3727994"/>
            <a:ext cx="4040137" cy="296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727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6229F56-AE13-C889-1DB1-933AA4ED7E60}"/>
              </a:ext>
            </a:extLst>
          </p:cNvPr>
          <p:cNvSpPr txBox="1"/>
          <p:nvPr/>
        </p:nvSpPr>
        <p:spPr>
          <a:xfrm>
            <a:off x="285134" y="582250"/>
            <a:ext cx="75216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La psique posee dos </a:t>
            </a:r>
            <a:r>
              <a:rPr lang="es-ES" sz="28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funciones básicas</a:t>
            </a:r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</a:t>
            </a:r>
            <a:endParaRPr lang="es-MX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723BFF-305A-4CFE-FCFF-94D900560C1A}"/>
              </a:ext>
            </a:extLst>
          </p:cNvPr>
          <p:cNvSpPr txBox="1"/>
          <p:nvPr/>
        </p:nvSpPr>
        <p:spPr>
          <a:xfrm>
            <a:off x="648928" y="2151727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3200" dirty="0"/>
              <a:t>Función Refleja</a:t>
            </a:r>
          </a:p>
          <a:p>
            <a:pPr marL="514350" indent="-514350">
              <a:buFont typeface="+mj-lt"/>
              <a:buAutoNum type="arabicPeriod"/>
            </a:pPr>
            <a:endParaRPr lang="es-MX" sz="3200" dirty="0"/>
          </a:p>
          <a:p>
            <a:endParaRPr lang="es-MX" sz="3200" dirty="0"/>
          </a:p>
          <a:p>
            <a:endParaRPr lang="es-MX" sz="3200" dirty="0"/>
          </a:p>
          <a:p>
            <a:endParaRPr lang="es-MX" sz="3200" dirty="0"/>
          </a:p>
          <a:p>
            <a:endParaRPr lang="es-MX" sz="3200" dirty="0"/>
          </a:p>
          <a:p>
            <a:r>
              <a:rPr lang="es-MX" sz="3200" dirty="0"/>
              <a:t>2.Función homeostática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B1052A7-7716-A265-0751-C2B28CC2A3BA}"/>
              </a:ext>
            </a:extLst>
          </p:cNvPr>
          <p:cNvSpPr txBox="1"/>
          <p:nvPr/>
        </p:nvSpPr>
        <p:spPr>
          <a:xfrm>
            <a:off x="6381134" y="1220693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Arial" panose="020B0604020202020204" pitchFamily="34" charset="0"/>
              </a:rPr>
              <a:t>Reflejos </a:t>
            </a:r>
            <a:r>
              <a:rPr lang="es-ES" sz="2400" b="1" i="0" u="sng" dirty="0">
                <a:effectLst/>
                <a:latin typeface="Arial" panose="020B0604020202020204" pitchFamily="34" charset="0"/>
              </a:rPr>
              <a:t>cognitivos</a:t>
            </a:r>
          </a:p>
          <a:p>
            <a:pPr lvl="1" algn="l"/>
            <a:r>
              <a:rPr lang="es-ES" sz="2400" b="0" i="0" strike="noStrike" dirty="0">
                <a:effectLst/>
                <a:latin typeface="Arial" panose="020B0604020202020204" pitchFamily="34" charset="0"/>
                <a:hlinkClick r:id="rId2" tooltip="Sentido (percepción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Sensaciones</a:t>
            </a:r>
            <a:endParaRPr lang="es-ES" sz="2400" b="0" i="0" dirty="0">
              <a:effectLst/>
              <a:latin typeface="Arial" panose="020B0604020202020204" pitchFamily="34" charset="0"/>
            </a:endParaRPr>
          </a:p>
          <a:p>
            <a:pPr lvl="1" algn="l"/>
            <a:r>
              <a:rPr lang="es-ES" sz="2400" b="0" i="0" strike="noStrike" dirty="0">
                <a:effectLst/>
                <a:latin typeface="Arial" panose="020B0604020202020204" pitchFamily="34" charset="0"/>
                <a:hlinkClick r:id="rId3" tooltip="Percep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Percepciones</a:t>
            </a:r>
            <a:endParaRPr lang="es-ES" sz="2400" b="0" i="0" dirty="0">
              <a:effectLst/>
              <a:latin typeface="Arial" panose="020B0604020202020204" pitchFamily="34" charset="0"/>
            </a:endParaRPr>
          </a:p>
          <a:p>
            <a:pPr lvl="1" algn="l"/>
            <a:r>
              <a:rPr lang="es-ES" sz="2400" b="0" i="0" strike="noStrike" dirty="0">
                <a:effectLst/>
                <a:latin typeface="Arial" panose="020B0604020202020204" pitchFamily="34" charset="0"/>
                <a:hlinkClick r:id="rId4" tooltip="Pensa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Pensamiento</a:t>
            </a:r>
            <a:endParaRPr lang="es-ES" sz="2400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Arial" panose="020B0604020202020204" pitchFamily="34" charset="0"/>
              </a:rPr>
              <a:t>Reflejos </a:t>
            </a:r>
            <a:r>
              <a:rPr lang="es-ES" sz="2400" b="1" i="0" u="sng" strike="noStrike" dirty="0">
                <a:effectLst/>
                <a:latin typeface="Arial" panose="020B0604020202020204" pitchFamily="34" charset="0"/>
                <a:hlinkClick r:id="rId5" tooltip="Empatí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afectivos</a:t>
            </a:r>
            <a:endParaRPr lang="es-ES" sz="2400" b="1" i="0" dirty="0">
              <a:effectLst/>
              <a:latin typeface="Arial" panose="020B0604020202020204" pitchFamily="34" charset="0"/>
            </a:endParaRPr>
          </a:p>
          <a:p>
            <a:pPr lvl="1" algn="l"/>
            <a:r>
              <a:rPr lang="es-ES" sz="2400" b="0" i="0" u="none" strike="noStrike" dirty="0">
                <a:effectLst/>
                <a:latin typeface="Arial" panose="020B0604020202020204" pitchFamily="34" charset="0"/>
                <a:hlinkClick r:id="rId6" tooltip="Emo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Emociones</a:t>
            </a:r>
            <a:endParaRPr lang="es-ES" sz="2400" b="0" i="0" dirty="0">
              <a:effectLst/>
              <a:latin typeface="Arial" panose="020B0604020202020204" pitchFamily="34" charset="0"/>
            </a:endParaRPr>
          </a:p>
          <a:p>
            <a:pPr lvl="1" algn="l"/>
            <a:r>
              <a:rPr lang="es-ES" sz="2400" b="0" i="0" u="none" strike="noStrike" dirty="0">
                <a:effectLst/>
                <a:latin typeface="Arial" panose="020B0604020202020204" pitchFamily="34" charset="0"/>
                <a:hlinkClick r:id="rId7" tooltip="Sentimient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Sentimientos</a:t>
            </a:r>
            <a:endParaRPr lang="es-ES" sz="2400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64AEC9D7-ED79-9AD6-8D97-D2FBE815E7F2}"/>
              </a:ext>
            </a:extLst>
          </p:cNvPr>
          <p:cNvSpPr/>
          <p:nvPr/>
        </p:nvSpPr>
        <p:spPr>
          <a:xfrm>
            <a:off x="4286865" y="2151727"/>
            <a:ext cx="1189703" cy="679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Abrir llave 12">
            <a:extLst>
              <a:ext uri="{FF2B5EF4-FFF2-40B4-BE49-F238E27FC236}">
                <a16:creationId xmlns:a16="http://schemas.microsoft.com/office/drawing/2014/main" id="{0BA52F2B-3153-D567-9A3F-7B8359570AC9}"/>
              </a:ext>
            </a:extLst>
          </p:cNvPr>
          <p:cNvSpPr/>
          <p:nvPr/>
        </p:nvSpPr>
        <p:spPr>
          <a:xfrm>
            <a:off x="5987845" y="1220693"/>
            <a:ext cx="393289" cy="26776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Abrir llave 14">
            <a:extLst>
              <a:ext uri="{FF2B5EF4-FFF2-40B4-BE49-F238E27FC236}">
                <a16:creationId xmlns:a16="http://schemas.microsoft.com/office/drawing/2014/main" id="{76287F2E-2A0E-6E40-6312-ADFB7A73CFD5}"/>
              </a:ext>
            </a:extLst>
          </p:cNvPr>
          <p:cNvSpPr/>
          <p:nvPr/>
        </p:nvSpPr>
        <p:spPr>
          <a:xfrm>
            <a:off x="6548283" y="4059758"/>
            <a:ext cx="393289" cy="26776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F7A72BEC-2785-2AC3-FF57-E3FECAA91748}"/>
              </a:ext>
            </a:extLst>
          </p:cNvPr>
          <p:cNvSpPr/>
          <p:nvPr/>
        </p:nvSpPr>
        <p:spPr>
          <a:xfrm>
            <a:off x="5078364" y="5017834"/>
            <a:ext cx="1189703" cy="6799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6661ED-F449-536F-CC88-0CDC3622A641}"/>
              </a:ext>
            </a:extLst>
          </p:cNvPr>
          <p:cNvSpPr txBox="1"/>
          <p:nvPr/>
        </p:nvSpPr>
        <p:spPr>
          <a:xfrm>
            <a:off x="7025144" y="4665317"/>
            <a:ext cx="432128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Permite la supervivencia en función del desarrollo </a:t>
            </a:r>
            <a:r>
              <a:rPr lang="es-ES" sz="2800" dirty="0">
                <a:solidFill>
                  <a:srgbClr val="202122"/>
                </a:solidFill>
                <a:latin typeface="Arial" panose="020B0604020202020204" pitchFamily="34" charset="0"/>
              </a:rPr>
              <a:t>de </a:t>
            </a:r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su </a:t>
            </a:r>
            <a:r>
              <a:rPr lang="es-ES" sz="28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8" tooltip="Inteligencia"/>
              </a:rPr>
              <a:t>inteligencia</a:t>
            </a:r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4170850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39C13BE-8FA9-6836-DB2F-E629E1DBF67C}"/>
              </a:ext>
            </a:extLst>
          </p:cNvPr>
          <p:cNvSpPr txBox="1"/>
          <p:nvPr/>
        </p:nvSpPr>
        <p:spPr>
          <a:xfrm>
            <a:off x="334297" y="17667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Factores considerados en la psiquis:</a:t>
            </a:r>
            <a:endParaRPr lang="es-MX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2495EB1-EA68-63F8-9B85-B4BE1CD1451C}"/>
              </a:ext>
            </a:extLst>
          </p:cNvPr>
          <p:cNvSpPr txBox="1"/>
          <p:nvPr/>
        </p:nvSpPr>
        <p:spPr>
          <a:xfrm>
            <a:off x="334297" y="772020"/>
            <a:ext cx="113955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Acordarse con precisión y a propósito de toda cosa oportuna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Saber razonar y dominarse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Poder fijar, prolongar, sostener, la propia atención sobre cualquier tema, sin distracción, sin dificultad ni fatiga excesivas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Pensar con claridad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Desarrollar un juicio con método, ingenio y precisión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Resistir a las sugestiones e influencias exteriores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Vencer las propias </a:t>
            </a:r>
            <a:r>
              <a:rPr lang="es-ES" b="0" i="0" strike="noStrike" dirty="0">
                <a:effectLst/>
                <a:latin typeface="Arial" panose="020B0604020202020204" pitchFamily="34" charset="0"/>
                <a:hlinkClick r:id="rId2" tooltip="Prejuici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impresiones</a:t>
            </a:r>
            <a:endParaRPr lang="es-ES" b="0" i="0" dirty="0"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Ser dueños de las propias emociones, sensibilidad y sentimientos.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Buscar y hallar la manera de proceder para obtener un resultado, realizar un proyecto o resolver una dificultad.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Mantenerse inaccesible a toda costumbre perjudicial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Proceder en todo con calma, confianza y prudencia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Expresar el propio pensamiento con palabras claras, con firmeza, mesura y seguridad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Contener los propios impulsos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Adaptarse rápidamente a una situación nueva y asimilarse en un mínimo de tiempo a la ejecución de una tarea definida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Sentir una confianza sostenida en sí mismo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b="0" i="0" dirty="0">
                <a:effectLst/>
                <a:latin typeface="Arial" panose="020B0604020202020204" pitchFamily="34" charset="0"/>
              </a:rPr>
              <a:t>Ser por completo dueño de si en presencia de otros</a:t>
            </a:r>
          </a:p>
        </p:txBody>
      </p:sp>
    </p:spTree>
    <p:extLst>
      <p:ext uri="{BB962C8B-B14F-4D97-AF65-F5344CB8AC3E}">
        <p14:creationId xmlns:p14="http://schemas.microsoft.com/office/powerpoint/2010/main" val="362590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7B34522-2CF5-7225-0CCE-02833A09F547}"/>
              </a:ext>
            </a:extLst>
          </p:cNvPr>
          <p:cNvSpPr txBox="1"/>
          <p:nvPr/>
        </p:nvSpPr>
        <p:spPr>
          <a:xfrm>
            <a:off x="186813" y="8554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Ámbitos del psiquismo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D4820F2-6CE3-103C-B07B-050238A57448}"/>
              </a:ext>
            </a:extLst>
          </p:cNvPr>
          <p:cNvSpPr txBox="1"/>
          <p:nvPr/>
        </p:nvSpPr>
        <p:spPr>
          <a:xfrm>
            <a:off x="186813" y="670317"/>
            <a:ext cx="108941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Procesos psíquicos y capacidades necesarios para la realización de diferentes tareas</a:t>
            </a:r>
            <a:endParaRPr lang="es-MX" sz="28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5D6286-AEF3-ED66-8675-E74D0902D9A4}"/>
              </a:ext>
            </a:extLst>
          </p:cNvPr>
          <p:cNvSpPr txBox="1"/>
          <p:nvPr/>
        </p:nvSpPr>
        <p:spPr>
          <a:xfrm>
            <a:off x="3298723" y="1509479"/>
            <a:ext cx="87064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/>
              <a:t>Ámbito de los procesos psíquicos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Cognitiva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Afectiva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Volitiva</a:t>
            </a:r>
          </a:p>
          <a:p>
            <a:r>
              <a:rPr lang="es-ES" sz="2800" b="1" dirty="0"/>
              <a:t>Ámbito de las cualidades psíquicas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Inteligencia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Temperamento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Carácter</a:t>
            </a:r>
          </a:p>
          <a:p>
            <a:r>
              <a:rPr lang="es-ES" sz="2800" b="1" dirty="0"/>
              <a:t>Ámbito de conjuntos psíquicos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Pensamiento y conocimiento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Sentimiento y emoción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Voluntad y actitud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93194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605ABA8-1CC1-BBC4-4C0D-1DD1A9680EA4}"/>
              </a:ext>
            </a:extLst>
          </p:cNvPr>
          <p:cNvSpPr txBox="1"/>
          <p:nvPr/>
        </p:nvSpPr>
        <p:spPr>
          <a:xfrm>
            <a:off x="363793" y="316601"/>
            <a:ext cx="1114701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La formación del </a:t>
            </a:r>
            <a:r>
              <a:rPr lang="es-ES" sz="2800" b="1" dirty="0"/>
              <a:t>psiquismo desde la niñez</a:t>
            </a:r>
            <a:r>
              <a:rPr lang="es-ES" sz="2800" dirty="0"/>
              <a:t> es una consecuencia del propio </a:t>
            </a:r>
            <a:r>
              <a:rPr lang="es-ES" sz="2800" b="1" dirty="0"/>
              <a:t>autodesarrollo</a:t>
            </a:r>
            <a:r>
              <a:rPr lang="es-ES" sz="2800" dirty="0"/>
              <a:t> del hombre, moldeado en profundidad por el </a:t>
            </a:r>
            <a:r>
              <a:rPr lang="es-ES" sz="2800" b="1" dirty="0">
                <a:solidFill>
                  <a:srgbClr val="FF0000"/>
                </a:solidFill>
              </a:rPr>
              <a:t>entorno</a:t>
            </a:r>
            <a:r>
              <a:rPr lang="es-ES" sz="2800" dirty="0"/>
              <a:t> y en particular por la </a:t>
            </a:r>
            <a:r>
              <a:rPr lang="es-ES" sz="2800" b="1" dirty="0">
                <a:solidFill>
                  <a:srgbClr val="FF0000"/>
                </a:solidFill>
              </a:rPr>
              <a:t>sociedad</a:t>
            </a:r>
            <a:r>
              <a:rPr lang="es-ES" sz="2800" dirty="0"/>
              <a:t>.</a:t>
            </a:r>
            <a:endParaRPr lang="es-MX" sz="2800" dirty="0"/>
          </a:p>
        </p:txBody>
      </p:sp>
      <p:pic>
        <p:nvPicPr>
          <p:cNvPr id="11266" name="Picture 2" descr="Etapas de crecimiento de las personas. set de personajes niños,  adolescente, adulto, anciano y mujer. | Vector Premium">
            <a:extLst>
              <a:ext uri="{FF2B5EF4-FFF2-40B4-BE49-F238E27FC236}">
                <a16:creationId xmlns:a16="http://schemas.microsoft.com/office/drawing/2014/main" id="{B27270F3-EC91-63D0-1F64-3F1725F23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91" y="1701596"/>
            <a:ext cx="5962650" cy="50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C9C8B50-5A95-3CEF-6E1A-8A3A164345A1}"/>
              </a:ext>
            </a:extLst>
          </p:cNvPr>
          <p:cNvSpPr txBox="1"/>
          <p:nvPr/>
        </p:nvSpPr>
        <p:spPr>
          <a:xfrm>
            <a:off x="7108723" y="1613105"/>
            <a:ext cx="43332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Funciones básicas de adaptación: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60D753-93A3-1869-2C81-5D7C20063137}"/>
              </a:ext>
            </a:extLst>
          </p:cNvPr>
          <p:cNvSpPr txBox="1"/>
          <p:nvPr/>
        </p:nvSpPr>
        <p:spPr>
          <a:xfrm>
            <a:off x="7282938" y="2761620"/>
            <a:ext cx="39848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La función </a:t>
            </a:r>
            <a:r>
              <a:rPr lang="es-ES" sz="2800" b="1" dirty="0"/>
              <a:t>mental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La función </a:t>
            </a:r>
            <a:r>
              <a:rPr lang="es-ES" sz="2800" b="1" dirty="0"/>
              <a:t>conciencia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La función </a:t>
            </a:r>
            <a:r>
              <a:rPr lang="es-ES" sz="2800" b="1" dirty="0"/>
              <a:t>racional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La función </a:t>
            </a:r>
            <a:r>
              <a:rPr lang="es-ES" sz="2800" b="1" dirty="0" err="1"/>
              <a:t>volutiva</a:t>
            </a:r>
            <a:endParaRPr lang="es-E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La función </a:t>
            </a:r>
            <a:r>
              <a:rPr lang="es-ES" sz="2800" b="1" dirty="0"/>
              <a:t>memoria</a:t>
            </a:r>
            <a:endParaRPr lang="es-MX" sz="2800" b="1" dirty="0"/>
          </a:p>
        </p:txBody>
      </p:sp>
    </p:spTree>
    <p:extLst>
      <p:ext uri="{BB962C8B-B14F-4D97-AF65-F5344CB8AC3E}">
        <p14:creationId xmlns:p14="http://schemas.microsoft.com/office/powerpoint/2010/main" val="1145931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583</Words>
  <Application>Microsoft Office PowerPoint</Application>
  <PresentationFormat>Panorámica</PresentationFormat>
  <Paragraphs>94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Shanti</vt:lpstr>
      <vt:lpstr>TimesNewRomanPS-BoldItalicMT</vt:lpstr>
      <vt:lpstr>TimesNewRomanPS-BoldMT</vt:lpstr>
      <vt:lpstr>TimesNewRomanPS-ItalicMT</vt:lpstr>
      <vt:lpstr>TimesNewRomanPSMT</vt:lpstr>
      <vt:lpstr>Tema de Office</vt:lpstr>
      <vt:lpstr>Filogénesis y ontogénesis del sistema nervioso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Filogénesis y ontogénesis del sistema nervioso</dc:title>
  <dc:creator>FERNANDEZ QUEZADA, DAVID</dc:creator>
  <cp:lastModifiedBy>FERNANDEZ QUEZADA, DAVID</cp:lastModifiedBy>
  <cp:revision>14</cp:revision>
  <dcterms:created xsi:type="dcterms:W3CDTF">2022-10-19T13:59:42Z</dcterms:created>
  <dcterms:modified xsi:type="dcterms:W3CDTF">2024-11-05T16:44:21Z</dcterms:modified>
</cp:coreProperties>
</file>